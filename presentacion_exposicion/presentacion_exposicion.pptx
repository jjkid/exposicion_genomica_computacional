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1435afde108548fb" /><Relationship Type="http://schemas.openxmlformats.org/officeDocument/2006/relationships/extended-properties" Target="/docProps/app.xml" Id="R8f0faa71126b4987" /><Relationship Type="http://schemas.openxmlformats.org/officeDocument/2006/relationships/officeDocument" Target="/ppt/presentation.xml" Id="R4e6a5f0806db4d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917cc213cd40e0"/>
  </p:sldMasterIdLst>
  <p:sldIdLst>
    <p:sldId xmlns:r="http://schemas.openxmlformats.org/officeDocument/2006/relationships" id="256" r:id="R12a040dfb69b40fa"/>
    <p:sldId xmlns:r="http://schemas.openxmlformats.org/officeDocument/2006/relationships" id="257" r:id="Rfb622695676f4ced"/>
    <p:sldId xmlns:r="http://schemas.openxmlformats.org/officeDocument/2006/relationships" id="258" r:id="Ra9b4e02e1b3b4f25"/>
    <p:sldId xmlns:r="http://schemas.openxmlformats.org/officeDocument/2006/relationships" id="259" r:id="R1e0967ab27254fc4"/>
    <p:sldId xmlns:r="http://schemas.openxmlformats.org/officeDocument/2006/relationships" id="260" r:id="Rcfa13769f5524b93"/>
    <p:sldId xmlns:r="http://schemas.openxmlformats.org/officeDocument/2006/relationships" id="261" r:id="R96fd2d00f1414bd1"/>
    <p:sldId xmlns:r="http://schemas.openxmlformats.org/officeDocument/2006/relationships" id="262" r:id="R52508e9f584945f8"/>
    <p:sldId xmlns:r="http://schemas.openxmlformats.org/officeDocument/2006/relationships" id="263" r:id="R80a01657ab574597"/>
    <p:sldId xmlns:r="http://schemas.openxmlformats.org/officeDocument/2006/relationships" id="264" r:id="R6913dd39212b49be"/>
    <p:sldId xmlns:r="http://schemas.openxmlformats.org/officeDocument/2006/relationships" id="265" r:id="Rd57a644033884ebf"/>
    <p:sldId xmlns:r="http://schemas.openxmlformats.org/officeDocument/2006/relationships" id="266" r:id="Rd63f80b552b14c9d"/>
    <p:sldId xmlns:r="http://schemas.openxmlformats.org/officeDocument/2006/relationships" id="267" r:id="R7e5525e5badf4384"/>
    <p:sldId xmlns:r="http://schemas.openxmlformats.org/officeDocument/2006/relationships" id="268" r:id="R148d9984dc3e4d5c"/>
    <p:sldId xmlns:r="http://schemas.openxmlformats.org/officeDocument/2006/relationships" id="269" r:id="R9d5977e3857b424d"/>
    <p:sldId xmlns:r="http://schemas.openxmlformats.org/officeDocument/2006/relationships" id="270" r:id="Rd6247008a12b48af"/>
    <p:sldId xmlns:r="http://schemas.openxmlformats.org/officeDocument/2006/relationships" id="271" r:id="R147c20d2c0a24cda"/>
    <p:sldId xmlns:r="http://schemas.openxmlformats.org/officeDocument/2006/relationships" id="272" r:id="Red6fc22c7a8b48fc"/>
    <p:sldId xmlns:r="http://schemas.openxmlformats.org/officeDocument/2006/relationships" id="273" r:id="R1362e1119fe14189"/>
    <p:sldId xmlns:r="http://schemas.openxmlformats.org/officeDocument/2006/relationships" id="274" r:id="R0b9edc191c674382"/>
    <p:sldId xmlns:r="http://schemas.openxmlformats.org/officeDocument/2006/relationships" id="275" r:id="R6d5b7fc261b84f69"/>
    <p:sldId xmlns:r="http://schemas.openxmlformats.org/officeDocument/2006/relationships" id="276" r:id="Ra149960c99d14204"/>
    <p:sldId xmlns:r="http://schemas.openxmlformats.org/officeDocument/2006/relationships" id="277" r:id="R380a83b7d7c648f2"/>
    <p:sldId xmlns:r="http://schemas.openxmlformats.org/officeDocument/2006/relationships" id="278" r:id="R8541341b3ff94cef"/>
  </p:sldIdLst>
  <p:sldSz cx="12192000" cy="6858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401a112c7dd64f7b" /><Relationship Type="http://schemas.openxmlformats.org/officeDocument/2006/relationships/slideMaster" Target="/ppt/slideMasters/slideMaster1.xml" Id="R45917cc213cd40e0" /><Relationship Type="http://schemas.openxmlformats.org/officeDocument/2006/relationships/presProps" Target="/ppt/presProps.xml" Id="R8d6f31cc3ecb415c" /><Relationship Type="http://schemas.openxmlformats.org/officeDocument/2006/relationships/viewProps" Target="/ppt/viewProps.xml" Id="R88b889cc51684455" /><Relationship Type="http://schemas.openxmlformats.org/officeDocument/2006/relationships/tableStyles" Target="/ppt/tableStyles.xml" Id="R9c10df4b448c4f0b" /><Relationship Type="http://schemas.openxmlformats.org/officeDocument/2006/relationships/slide" Target="/ppt/slides/slide1.xml" Id="R12a040dfb69b40fa" /><Relationship Type="http://schemas.openxmlformats.org/officeDocument/2006/relationships/slide" Target="/ppt/slides/slide2.xml" Id="Rfb622695676f4ced" /><Relationship Type="http://schemas.openxmlformats.org/officeDocument/2006/relationships/slide" Target="/ppt/slides/slide3.xml" Id="Ra9b4e02e1b3b4f25" /><Relationship Type="http://schemas.openxmlformats.org/officeDocument/2006/relationships/slide" Target="/ppt/slides/slide4.xml" Id="R1e0967ab27254fc4" /><Relationship Type="http://schemas.openxmlformats.org/officeDocument/2006/relationships/slide" Target="/ppt/slides/slide5.xml" Id="Rcfa13769f5524b93" /><Relationship Type="http://schemas.openxmlformats.org/officeDocument/2006/relationships/slide" Target="/ppt/slides/slide6.xml" Id="R96fd2d00f1414bd1" /><Relationship Type="http://schemas.openxmlformats.org/officeDocument/2006/relationships/slide" Target="/ppt/slides/slide7.xml" Id="R52508e9f584945f8" /><Relationship Type="http://schemas.openxmlformats.org/officeDocument/2006/relationships/slide" Target="/ppt/slides/slide8.xml" Id="R80a01657ab574597" /><Relationship Type="http://schemas.openxmlformats.org/officeDocument/2006/relationships/slide" Target="/ppt/slides/slide9.xml" Id="R6913dd39212b49be" /><Relationship Type="http://schemas.openxmlformats.org/officeDocument/2006/relationships/slide" Target="/ppt/slides/slide10.xml" Id="Rd57a644033884ebf" /><Relationship Type="http://schemas.openxmlformats.org/officeDocument/2006/relationships/slide" Target="/ppt/slides/slide11.xml" Id="Rd63f80b552b14c9d" /><Relationship Type="http://schemas.openxmlformats.org/officeDocument/2006/relationships/slide" Target="/ppt/slides/slide12.xml" Id="R7e5525e5badf4384" /><Relationship Type="http://schemas.openxmlformats.org/officeDocument/2006/relationships/slide" Target="/ppt/slides/slide13.xml" Id="R148d9984dc3e4d5c" /><Relationship Type="http://schemas.openxmlformats.org/officeDocument/2006/relationships/slide" Target="/ppt/slides/slide14.xml" Id="R9d5977e3857b424d" /><Relationship Type="http://schemas.openxmlformats.org/officeDocument/2006/relationships/slide" Target="/ppt/slides/slide15.xml" Id="Rd6247008a12b48af" /><Relationship Type="http://schemas.openxmlformats.org/officeDocument/2006/relationships/slide" Target="/ppt/slides/slide16.xml" Id="R147c20d2c0a24cda" /><Relationship Type="http://schemas.openxmlformats.org/officeDocument/2006/relationships/slide" Target="/ppt/slides/slide17.xml" Id="Red6fc22c7a8b48fc" /><Relationship Type="http://schemas.openxmlformats.org/officeDocument/2006/relationships/slide" Target="/ppt/slides/slide18.xml" Id="R1362e1119fe14189" /><Relationship Type="http://schemas.openxmlformats.org/officeDocument/2006/relationships/slide" Target="/ppt/slides/slide19.xml" Id="R0b9edc191c674382" /><Relationship Type="http://schemas.openxmlformats.org/officeDocument/2006/relationships/slide" Target="/ppt/slides/slide20.xml" Id="R6d5b7fc261b84f69" /><Relationship Type="http://schemas.openxmlformats.org/officeDocument/2006/relationships/slide" Target="/ppt/slides/slide21.xml" Id="Ra149960c99d14204" /><Relationship Type="http://schemas.openxmlformats.org/officeDocument/2006/relationships/slide" Target="/ppt/slides/slide22.xml" Id="R380a83b7d7c648f2" /><Relationship Type="http://schemas.openxmlformats.org/officeDocument/2006/relationships/slide" Target="/ppt/slides/slide23.xml" Id="R8541341b3ff94cef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ea694f7430c4d0d" /><Relationship Type="http://schemas.openxmlformats.org/officeDocument/2006/relationships/theme" Target="/ppt/theme/theme1.xml" Id="R4ea07ed92e5d4b4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a694f7430c4d0d"/>
  </p:sldLayoutIdLst>
</p:sldMaster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d65fa6cfe0a46df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191470d0e1f4e31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0893584915c46c0" /><Relationship Type="http://schemas.openxmlformats.org/officeDocument/2006/relationships/image" Target="/ppt/media/image.png" Id="Rafb36783d69345e1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089af3a0cca4ff4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90aafb724d84b5a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54dd693f6ba4719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8e92e2995514d37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a8266e506f34059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31a205205f7485c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b92deca1185467b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974a8f3ff4e4370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eff13512a2b4914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b344148b2964667" /><Relationship Type="http://schemas.openxmlformats.org/officeDocument/2006/relationships/image" Target="/ppt/media/image2.png" Id="R63af5c966bc148ea" /><Relationship Type="http://schemas.openxmlformats.org/officeDocument/2006/relationships/image" Target="/ppt/media/image3.png" Id="R219fd00434d8468d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1af1ef8b1324b43" /><Relationship Type="http://schemas.openxmlformats.org/officeDocument/2006/relationships/image" Target="/ppt/media/image4.png" Id="R176da6ea7a564177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e6bb38f30894854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b02dfc50a7d4348" 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5b2da740c7349cd" /><Relationship Type="http://schemas.openxmlformats.org/officeDocument/2006/relationships/image" Target="/ppt/media/image5.png" Id="R8a1b58df5de94344" 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113bfec26f54e3e" 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2ccb69fc11f443b" /><Relationship Type="http://schemas.openxmlformats.org/officeDocument/2006/relationships/image" Target="/ppt/media/image6.png" Id="R8fbceefffc494f1d" /></Relationships>
</file>

<file path=ppt/slides/_rels/slide2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12d56bedc2e4bbd" /></Relationships>
</file>

<file path=ppt/slides/_rels/slide2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85659738e184185" /><Relationship Type="http://schemas.openxmlformats.org/officeDocument/2006/relationships/image" Target="/ppt/media/image7.png" Id="R47dbeb3b1d604ec6" /></Relationships>
</file>

<file path=ppt/slides/_rels/slide2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21cb8091d64474b" /></Relationships>
</file>

<file path=ppt/slides/_rels/slide2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ca4fcbe59f349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924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7810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Separación exploratoria de tipos tumorales usando perfiles RNA-Seq, PCA y K-Means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742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Proyecto final de Genómica Computacional</a:t>
            </a:r>
          </a:p>
          <a:p xmlns:a="http://schemas.openxmlformats.org/drawingml/2006/main">
            <a:pPr>
              <a:defRPr sz="15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Carrera de Ciencias de la Computación</a:t>
            </a:r>
          </a:p>
          <a:p xmlns:a="http://schemas.openxmlformats.org/drawingml/2006/main">
            <a:pPr>
              <a:defRPr sz="15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Integrantes: completar con los nombres del equipo</a:t>
            </a:r>
          </a:p>
        </p:txBody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801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muestras tumorales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71775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28925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20,531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genes originales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71775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4E57"/>
          </a:solidFill>
          <a:ln xmlns:a="http://schemas.openxmlformats.org/drawingml/2006/main" w="0">
            <a:solidFill>
              <a:srgbClr val="7D4E57"/>
            </a:solidFill>
            <a:prstDash val="solid"/>
          </a:ln>
        </p:spPr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28925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5,000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242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genes retenidos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71775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28925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k = 5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242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clusters elegidos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781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Pregunta del trabajo: ¿una matriz de expresión génica de alta dimensionalidad conserva estructura suficiente para recuperar tipos tumorales mediante un flujo no supervisado?</a:t>
            </a:r>
          </a:p>
        </p:txBody>
      </p:sp>
    </p:spTree>
    <p:extLst>
      <p:ext uri="{BB962C8B-B14F-4D97-AF65-F5344CB8AC3E}">
        <p14:creationId xmlns:p14="http://schemas.microsoft.com/office/powerpoint/2010/main" val="734123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Introducción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Contexto biológico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3714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La expresión génica mide qué tan activos están los genes en una muestra. En cáncer, distintos tipos tumorales pueden tener genes más o menos activos.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3714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RNA-Seq permite observar esos perfiles a escala transcriptómica. En este trabajo se analiza una matriz de expresión ya procesada de TCGA/PANCAN.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100"/>
            <a:ext cx="3714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La dificultad computacional es la dimensión: cada muestra se describe por miles de genes, lo que exige reducción de dimensión antes de visualizar.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819150"/>
            <a:ext cx="422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Matriz conceptual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114425"/>
            <a:ext cx="819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muestra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114425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 1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114425"/>
            <a:ext cx="76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 2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114425"/>
            <a:ext cx="51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14425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 20531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62100"/>
            <a:ext cx="819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BRCA_001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5621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5621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621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819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KIRC_014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907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2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907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2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9072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2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9072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2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819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LUAD_071</a:t>
            </a:r>
          </a:p>
        </p:txBody>
      </p:sp>
      <p:sp>
        <p:nvSpPr>
          <p:cNvPr id="2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19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2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2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1935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2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193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2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19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PRAD_022</a:t>
            </a:r>
          </a:p>
        </p:txBody>
      </p:sp>
      <p:sp>
        <p:nvSpPr>
          <p:cNvPr id="3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479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3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479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3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47975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3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4797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3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819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COAD_008</a:t>
            </a:r>
          </a:p>
        </p:txBody>
      </p:sp>
      <p:sp>
        <p:nvSpPr>
          <p:cNvPr id="3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766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3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3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766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...</a:t>
            </a:r>
          </a:p>
        </p:txBody>
      </p:sp>
      <p:sp>
        <p:nvSpPr>
          <p:cNvPr id="3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2"/>
            </a:solidFill>
            <a:prstDash val="solid"/>
          </a:ln>
        </p:spPr>
      </p:sp>
      <p:sp>
        <p:nvSpPr>
          <p:cNvPr id="3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05225"/>
            <a:ext cx="4229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Cada fila es una muestra tumoral; cada columna es un gen; cada celda es un nivel de expresión.</a:t>
            </a:r>
          </a:p>
        </p:txBody>
      </p:sp>
    </p:spTree>
    <p:extLst>
      <p:ext uri="{BB962C8B-B14F-4D97-AF65-F5344CB8AC3E}">
        <p14:creationId xmlns:p14="http://schemas.microsoft.com/office/powerpoint/2010/main" val="20701169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Datos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Dataset usado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6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Gene Expression Cancer RNA-Seq, UCI Machine Learning Repository. Proviene de TCGA/PANCAN RNA-Seq y ya viene como matriz procesada.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4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Forma del dataset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43100"/>
            <a:ext cx="304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X: 801 muestras tumorales x 20,531 genes. Filas = muestras; columnas = genes; celdas = niveles numéricos de expresión.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y: etiqueta real del tipo tumoral. Incluye BRCA, COAD, KIRC, LUAD y PRAD.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71800"/>
            <a:ext cx="304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Las etiquetas no se usan para agrupar; se usan después para evaluar los clusters.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38575"/>
            <a:ext cx="125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celdas vacías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8615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4E57"/>
          </a:solidFill>
          <a:ln xmlns:a="http://schemas.openxmlformats.org/drawingml/2006/main" w="0">
            <a:solidFill>
              <a:srgbClr val="7D4E57"/>
            </a:solidFill>
            <a:prstDash val="solid"/>
          </a:ln>
        </p:spPr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4330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38575"/>
            <a:ext cx="125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tipos tumorales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36783d69345e1"/>
          <a:stretch xmlns:a="http://schemas.openxmlformats.org/drawingml/2006/main"/>
        </p:blipFill>
        <p:spPr>
          <a:xfrm xmlns:a="http://schemas.openxmlformats.org/drawingml/2006/main">
            <a:off x="3771900" y="829788"/>
            <a:ext cx="4953000" cy="3141024"/>
          </a:xfrm>
          <a:prstGeom xmlns:a="http://schemas.openxmlformats.org/drawingml/2006/main" prst="rect">
            <a:avLst/>
          </a:prstGeom>
        </p:spPr>
      </p:pic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290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Distribución real de clases</a:t>
            </a:r>
          </a:p>
        </p:txBody>
      </p:sp>
    </p:spTree>
    <p:extLst>
      <p:ext uri="{BB962C8B-B14F-4D97-AF65-F5344CB8AC3E}">
        <p14:creationId xmlns:p14="http://schemas.microsoft.com/office/powerpoint/2010/main" val="193284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Objetivo y flujo general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8229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Objetivo: evaluar si perfiles de expresión génica RNA-Seq se agrupan de acuerdo con su tipo tumoral cuando se reduce la dimensión con PCA y se aplica K-Means sin usar etiquetas.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906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14500"/>
            <a:ext cx="64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0"/>
            <a:ext cx="647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Matriz RNA-Seq procesada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5906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714500"/>
            <a:ext cx="64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095500"/>
            <a:ext cx="647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Selección por varianza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5906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14500"/>
            <a:ext cx="64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95500"/>
            <a:ext cx="647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Estandarización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5906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714500"/>
            <a:ext cx="64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95500"/>
            <a:ext cx="647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PCA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5906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714500"/>
            <a:ext cx="64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095500"/>
            <a:ext cx="647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Varianza explicada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906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2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14500"/>
            <a:ext cx="64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2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95500"/>
            <a:ext cx="647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K-Means con varios k</a:t>
            </a:r>
          </a:p>
        </p:txBody>
      </p:sp>
      <p:sp>
        <p:nvSpPr>
          <p:cNvPr id="2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5906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2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714500"/>
            <a:ext cx="64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2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95500"/>
            <a:ext cx="647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DB + Silhouette</a:t>
            </a:r>
          </a:p>
        </p:txBody>
      </p:sp>
      <p:sp>
        <p:nvSpPr>
          <p:cNvPr id="2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906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2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64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2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647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Evaluación con etiquetas</a:t>
            </a:r>
          </a:p>
        </p:txBody>
      </p:sp>
      <p:sp>
        <p:nvSpPr>
          <p:cNvPr id="2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906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3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714500"/>
            <a:ext cx="64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  <p:sp>
        <p:nvSpPr>
          <p:cNvPr id="3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95500"/>
            <a:ext cx="647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Contingencia + pureza + ARI/NMI</a:t>
            </a:r>
          </a:p>
        </p:txBody>
      </p:sp>
      <p:sp>
        <p:nvSpPr>
          <p:cNvPr id="3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590675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3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714500"/>
            <a:ext cx="64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3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95500"/>
            <a:ext cx="6477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Conclusión exploratoria</a:t>
            </a:r>
          </a:p>
        </p:txBody>
      </p:sp>
      <p:sp>
        <p:nvSpPr>
          <p:cNvPr id="3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24300"/>
            <a:ext cx="82296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Criterio esperado: si cada tipo tumoral tiene genes activos de forma distinta, las muestras del mismo tipo deberían quedar más cerca entre sí que de otros tumores en PCA y K-Means.</a:t>
            </a:r>
          </a:p>
        </p:txBody>
      </p:sp>
    </p:spTree>
    <p:extLst>
      <p:ext uri="{BB962C8B-B14F-4D97-AF65-F5344CB8AC3E}">
        <p14:creationId xmlns:p14="http://schemas.microsoft.com/office/powerpoint/2010/main" val="2642311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Implementación: organización del código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905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Qué hace el código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9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1. Lee la matriz de expresión y la columna de tipo tumoral real.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85900"/>
            <a:ext cx="390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9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2. Revisa que X e y tengan las mismas muestras y que no existan celdas vacías o columnas no numéricas.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0"/>
            <a:ext cx="3905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9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3. Conserva los 5,000 genes con mayor varianza y estandariza sus valores.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38400"/>
            <a:ext cx="3905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9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4. Calcula PCA para representar cada muestra con pocas coordenadas.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3905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9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5. Ejecuta K-Means con varios valores de k y compara los clusters contra las etiquetas reales.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3905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9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6. Guarda tablas, métricas y figuras para el reporte y la presentación.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19150"/>
            <a:ext cx="405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Recorrido ejecutable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09675"/>
            <a:ext cx="3867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76350"/>
            <a:ext cx="3790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run_pipeline(...)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57325"/>
            <a:ext cx="3790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load_expression_data(...)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38300"/>
            <a:ext cx="3790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validate_expression_dataset(...)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19275"/>
            <a:ext cx="3790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select_high_variance_genes(...)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00250"/>
            <a:ext cx="3790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standardize_features(...)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81225"/>
            <a:ext cx="3790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run_pca(...)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3790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evaluate_kmeans(...)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43175"/>
            <a:ext cx="3790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build_contingency(...)</a:t>
            </a:r>
          </a:p>
        </p:txBody>
      </p:sp>
      <p:sp>
        <p:nvSpPr>
          <p:cNvPr id="2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3790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evaluate_cluster_label_alignment(...)</a:t>
            </a:r>
          </a:p>
        </p:txBody>
      </p:sp>
      <p:sp>
        <p:nvSpPr>
          <p:cNvPr id="2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379095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save_result_tables(...)</a:t>
            </a:r>
          </a:p>
        </p:txBody>
      </p:sp>
      <p:sp>
        <p:nvSpPr>
          <p:cNvPr id="2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14700"/>
            <a:ext cx="4057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El notebook llama run_pipeline. Si se vuelve a ejecutar, se regeneran las mismas tablas y gráficas desde los datos.</a:t>
            </a:r>
          </a:p>
        </p:txBody>
      </p:sp>
    </p:spTree>
    <p:extLst>
      <p:ext uri="{BB962C8B-B14F-4D97-AF65-F5344CB8AC3E}">
        <p14:creationId xmlns:p14="http://schemas.microsoft.com/office/powerpoint/2010/main" val="7391999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Código: carga y validación de datos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Entrada esperada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3810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data.csv contiene la matriz de expresión. labels.csv contiene el tipo tumoral de cada muestra.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3810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El código elimina la columna de identificador cuando existe y alinea las etiquetas con las filas de expresión.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38400"/>
            <a:ext cx="3810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La validación detiene el análisis si hay faltantes, columnas no numéricas, índices duplicados o desajuste entre X e y.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819150"/>
            <a:ext cx="403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Validaciones implementadas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19200"/>
            <a:ext cx="3848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85875"/>
            <a:ext cx="37719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X.empty -&gt; no hay matriz que analizar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466850"/>
            <a:ext cx="37719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len(X) != len(y) -&gt; faltan etiquetas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47825"/>
            <a:ext cx="37719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duplicados -&gt; muestras repetidas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28800"/>
            <a:ext cx="37719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y con vacíos -&gt; muestra sin tipo tumoral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9775"/>
            <a:ext cx="37719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X con vacíos -&gt; expresión incompleta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37719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no numéricas -&gt; PCA/K-Means no aplican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71725"/>
            <a:ext cx="37719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&lt; 2 clases -&gt; no hay comparación real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801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05175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muestras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2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0990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20,531</a:t>
            </a:r>
          </a:p>
        </p:txBody>
      </p:sp>
      <p:sp>
        <p:nvSpPr>
          <p:cNvPr id="2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05175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genes</a:t>
            </a:r>
          </a:p>
        </p:txBody>
      </p:sp>
      <p:sp>
        <p:nvSpPr>
          <p:cNvPr id="2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527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2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0990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2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05175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celdas vacías</a:t>
            </a:r>
          </a:p>
        </p:txBody>
      </p:sp>
    </p:spTree>
    <p:extLst>
      <p:ext uri="{BB962C8B-B14F-4D97-AF65-F5344CB8AC3E}">
        <p14:creationId xmlns:p14="http://schemas.microsoft.com/office/powerpoint/2010/main" val="16216633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Concepto: varianza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Qué mide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3771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La varianza mide cuánto cambian los valores de un gen entre las muestras.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377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Si un gen tiene valores muy parecidos en casi todos los tumores, no ayuda mucho a distinguir muestras.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3771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Si un gen cambia bastante entre tumores, puede aportar señal para PCA y K-Means.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3700"/>
            <a:ext cx="3771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Por eso el flujo conserva los 5,000 genes con mayor varianza antes de reducir dimensión.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81915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Ejemplo simplificado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23950"/>
            <a:ext cx="91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23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S1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23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S2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123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S3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123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S4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23950"/>
            <a:ext cx="99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lectura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85900"/>
            <a:ext cx="914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gen_A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859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859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859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8590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2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85900"/>
            <a:ext cx="99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baja varianza</a:t>
            </a:r>
          </a:p>
        </p:txBody>
      </p:sp>
      <p:sp>
        <p:nvSpPr>
          <p:cNvPr id="2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914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gen_B</a:t>
            </a:r>
          </a:p>
        </p:txBody>
      </p:sp>
      <p:sp>
        <p:nvSpPr>
          <p:cNvPr id="2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24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40</a:t>
            </a:r>
          </a:p>
        </p:txBody>
      </p:sp>
      <p:sp>
        <p:nvSpPr>
          <p:cNvPr id="2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24050"/>
            <a:ext cx="457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35</a:t>
            </a:r>
          </a:p>
        </p:txBody>
      </p:sp>
      <p:sp>
        <p:nvSpPr>
          <p:cNvPr id="2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990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alta varianza</a:t>
            </a:r>
          </a:p>
        </p:txBody>
      </p:sp>
      <p:sp>
        <p:nvSpPr>
          <p:cNvPr id="2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4191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80">
                <a:solidFill>
                  <a:srgbClr val="7D4E57"/>
                </a:solidFill>
                <a:latin typeface="Arial"/>
                <a:ea typeface="Arial"/>
                <a:cs typeface="Arial"/>
              </a:defRPr>
            </a:pPr>
            <a:r>
              <a:t>La selección por varianza no dice que un gen sea clínicamente importante; sólo prioriza genes que cambian más en esta matriz.</a:t>
            </a:r>
          </a:p>
        </p:txBody>
      </p:sp>
    </p:spTree>
    <p:extLst>
      <p:ext uri="{BB962C8B-B14F-4D97-AF65-F5344CB8AC3E}">
        <p14:creationId xmlns:p14="http://schemas.microsoft.com/office/powerpoint/2010/main" val="1750805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Concepto: estandarización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84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Qué significa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3848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Estandarizar es poner todos los genes en una escala comparable.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3848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Para cada gen se resta su media y se divide entre su desviación estándar.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3848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Después de eso, cada gen queda centrado alrededor de 0 y sus cambios se miden en unidades comparables.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90850"/>
            <a:ext cx="3848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Esto importa porque PCA usa varianza y K-Means usa distancias.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819150"/>
            <a:ext cx="411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Por qué se aplica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23950"/>
            <a:ext cx="4114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Sin estandarizar, un gen con números grandes puede dominar el análisis aunque no sea más importante.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33550"/>
            <a:ext cx="4114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Ejemplo: si un gen va de 0 a 10,000 y otro de 0 a 10, las distancias quedan dominadas por el primero.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4114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Con estandarización, ambos genes pueden contribuir según su patrón de cambio, no sólo por la magnitud de sus valores.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040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 b="1">
                <a:solidFill>
                  <a:srgbClr val="7D4E57"/>
                </a:solidFill>
                <a:latin typeface="Arial"/>
                <a:ea typeface="Arial"/>
                <a:cs typeface="Arial"/>
              </a:defRPr>
            </a:pPr>
            <a:r>
              <a:t>En el código se hace con StandardScaler sobre la matriz ya filtrada por varianza.</a:t>
            </a:r>
          </a:p>
        </p:txBody>
      </p:sp>
    </p:spTree>
    <p:extLst>
      <p:ext uri="{BB962C8B-B14F-4D97-AF65-F5344CB8AC3E}">
        <p14:creationId xmlns:p14="http://schemas.microsoft.com/office/powerpoint/2010/main" val="13369792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Preparación de la matriz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1. Revisión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801 muestras, 20,531 genes, 0 valores faltantes.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2. Varianza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Retuve 5,000 genes que más cambian entre muestras.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3. Escala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Estandaricé cada gen para comparar columnas en una escala común.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57450"/>
            <a:ext cx="384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Por qué seleccionar por varianza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2250"/>
            <a:ext cx="3848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Si un gen casi no cambia entre muestras, aporta poco para separar perfiles tumorales.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14700"/>
            <a:ext cx="3848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Seleccionar genes variables reduce dimensión antes de PCA.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0"/>
            <a:ext cx="384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 b="1">
                <a:solidFill>
                  <a:srgbClr val="7D4E57"/>
                </a:solidFill>
                <a:latin typeface="Arial"/>
                <a:ea typeface="Arial"/>
                <a:cs typeface="Arial"/>
              </a:defRPr>
            </a:pPr>
            <a:r>
              <a:t>Este criterio selecciona variación estadística, no relevancia clínica.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384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Por qué estandarizar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3848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PCA depende de varianza y K-Means depende de distancias.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3848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Si una columna tiene escala mayor, puede dominar aunque no sea más informativa.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90950"/>
            <a:ext cx="3848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La estandarización pone los genes en una escala comparable.</a:t>
            </a:r>
          </a:p>
        </p:txBody>
      </p:sp>
    </p:spTree>
    <p:extLst>
      <p:ext uri="{BB962C8B-B14F-4D97-AF65-F5344CB8AC3E}">
        <p14:creationId xmlns:p14="http://schemas.microsoft.com/office/powerpoint/2010/main" val="7810103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Código: selección y estandarización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Selección por varianza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377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variances = X.var(axis=0, ddof=0)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variances = variances.sort_values(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4782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ascending=False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)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977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selected = variances.head(5000).index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X_selected = X.loc[:, selected]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86050"/>
            <a:ext cx="3962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8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La selección se hace antes de estandarizar para conservar genes con mayor cambio observado entre muestras.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91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Estandarización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219200"/>
            <a:ext cx="377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28587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scaler = StandardScaler()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6685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scaled_values = scaler.fit_transform(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4782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X_selected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)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977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X_scaled = DataFrame(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scaled_values, index, columns</a:t>
            </a:r>
          </a:p>
        </p:txBody>
      </p:sp>
      <p:sp>
        <p:nvSpPr>
          <p:cNvPr id="2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7172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)</a:t>
            </a:r>
          </a:p>
        </p:txBody>
      </p:sp>
      <p:sp>
        <p:nvSpPr>
          <p:cNvPr id="2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3962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8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Cada gen queda con media cercana a 0 y desviación estándar cercana a 1.</a:t>
            </a:r>
          </a:p>
        </p:txBody>
      </p:sp>
    </p:spTree>
    <p:extLst>
      <p:ext uri="{BB962C8B-B14F-4D97-AF65-F5344CB8AC3E}">
        <p14:creationId xmlns:p14="http://schemas.microsoft.com/office/powerpoint/2010/main" val="21236849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Concepto: PCA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84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Qué hace PCA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3848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PCA toma una matriz con miles de genes y crea nuevos ejes numéricos llamados componentes principales.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3848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PC1 resume la mayor diferencia global entre muestras; PC2 resume otra diferencia importante, independiente de PC1.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14600"/>
            <a:ext cx="3848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No usa las etiquetas tumorales para construir esos ejes: sólo usa los valores numéricos de expresión.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62300"/>
            <a:ext cx="3848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Así se puede dibujar cada muestra como un punto en PC1 vs PC2.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819150"/>
            <a:ext cx="411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Para qué sirve aquí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23950"/>
            <a:ext cx="4114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El dataset tiene 20,531 genes por muestra. Eso no se puede visualizar directamente en una gráfica de dos ejes.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71650"/>
            <a:ext cx="411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PCA reduce esa información a coordenadas comparables sin perder toda la estructura.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4114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Después se revisa si las muestras del mismo tipo tumoral tienden a quedar cerca en la proyección.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71800"/>
            <a:ext cx="4114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 b="1">
                <a:solidFill>
                  <a:srgbClr val="7D4E57"/>
                </a:solidFill>
                <a:latin typeface="Arial"/>
                <a:ea typeface="Arial"/>
                <a:cs typeface="Arial"/>
              </a:defRPr>
            </a:pPr>
            <a:r>
              <a:t>También se usan las coordenadas PCA como entrada reducida para K-Means.</a:t>
            </a:r>
          </a:p>
        </p:txBody>
      </p:sp>
    </p:spTree>
    <p:extLst>
      <p:ext uri="{BB962C8B-B14F-4D97-AF65-F5344CB8AC3E}">
        <p14:creationId xmlns:p14="http://schemas.microsoft.com/office/powerpoint/2010/main" val="1378934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Código: PCA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Objeto que entra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396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PCA recibe X_scaled, la matriz ya filtrada y estandarizada.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00200"/>
            <a:ext cx="3962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El código calcula hasta 10 componentes, limitado por número de muestras y genes.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3962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La salida principal son los scores: nuevas coordenadas PC1, PC2, ..., PC10 para cada muestra.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91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Implementación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219200"/>
            <a:ext cx="377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28587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model = PCA(n_components=max_components)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46685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scores_array = model.fit_transform(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4782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X_scaled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2880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)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977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scores = DataFrame(scores_array,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columns=[PC1, ..., PC10]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7172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)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5270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explained = model.explained_variance_ratio_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3367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cumulative = explained.cumsum()</a:t>
            </a:r>
          </a:p>
        </p:txBody>
      </p:sp>
    </p:spTree>
    <p:extLst>
      <p:ext uri="{BB962C8B-B14F-4D97-AF65-F5344CB8AC3E}">
        <p14:creationId xmlns:p14="http://schemas.microsoft.com/office/powerpoint/2010/main" val="6500006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PCA: varianza explicada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f5c966bc148ea"/>
          <a:stretch xmlns:a="http://schemas.openxmlformats.org/drawingml/2006/main"/>
        </p:blipFill>
        <p:spPr>
          <a:xfrm xmlns:a="http://schemas.openxmlformats.org/drawingml/2006/main">
            <a:off x="1012676" y="819150"/>
            <a:ext cx="2851449" cy="1809750"/>
          </a:xfrm>
          <a:prstGeom xmlns:a="http://schemas.openxmlformats.org/drawingml/2006/main" prst="rect">
            <a:avLst/>
          </a:prstGeom>
        </p:spPr>
      </p:pic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76525"/>
            <a:ext cx="403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Cada barra indica cuánto aporta cada componente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fd00434d8468d"/>
          <a:stretch xmlns:a="http://schemas.openxmlformats.org/drawingml/2006/main"/>
        </p:blipFill>
        <p:spPr>
          <a:xfrm xmlns:a="http://schemas.openxmlformats.org/drawingml/2006/main">
            <a:off x="5240626" y="819150"/>
            <a:ext cx="2853748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76525"/>
            <a:ext cx="4038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La curva suma lo capturado por varios componentes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6230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15.46%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57575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PC1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051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6230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11.34%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57575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PC2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4E57"/>
          </a:solidFill>
          <a:ln xmlns:a="http://schemas.openxmlformats.org/drawingml/2006/main" w="0">
            <a:solidFill>
              <a:srgbClr val="7D4E57"/>
            </a:solidFill>
            <a:prstDash val="solid"/>
          </a:ln>
        </p:spPr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26.81%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57575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PC1 + PC2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6230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56.02%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57575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10 componentes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6200"/>
            <a:ext cx="4000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7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Lectura: PC1 y PC2 son los dos ejes principales usados para dibujar la proyección. Juntos capturan 26.81% de la variación total.</a:t>
            </a:r>
          </a:p>
        </p:txBody>
      </p:sp>
      <p:sp>
        <p:nvSpPr>
          <p:cNvPr id="2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4076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7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Interpretación: la separación visible en PC1-PC2 usa sólo una parte de la información; con 10 componentes se captura 56.02%, por eso K-Means usa más coordenadas que la gráfica 2D.</a:t>
            </a:r>
          </a:p>
        </p:txBody>
      </p:sp>
    </p:spTree>
    <p:extLst>
      <p:ext uri="{BB962C8B-B14F-4D97-AF65-F5344CB8AC3E}">
        <p14:creationId xmlns:p14="http://schemas.microsoft.com/office/powerpoint/2010/main" val="14406981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PCA: separación por tipo tumoral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da6ea7a564177"/>
          <a:stretch xmlns:a="http://schemas.openxmlformats.org/drawingml/2006/main"/>
        </p:blipFill>
        <p:spPr>
          <a:xfrm xmlns:a="http://schemas.openxmlformats.org/drawingml/2006/main">
            <a:off x="989654" y="819150"/>
            <a:ext cx="4173841" cy="3257550"/>
          </a:xfrm>
          <a:prstGeom xmlns:a="http://schemas.openxmlformats.org/drawingml/2006/main" prst="rect">
            <a:avLst/>
          </a:prstGeom>
        </p:spPr>
      </p:pic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24325"/>
            <a:ext cx="5314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PC1 contra PC2 coloreado por etiqueta real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819150"/>
            <a:ext cx="2724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Lectura principal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19200"/>
            <a:ext cx="27241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BRCA, KIRC y PRAD ocupan regiones diferenciadas del plano.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38350"/>
            <a:ext cx="27241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LUAD y COAD quedan más cercanos entre sí, lo que anticipa mayor mezcla en clustering.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71800"/>
            <a:ext cx="27241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PC1 y PC2 juntan 26.81% de las diferencias numéricas entre muestras. La gráfica ayuda a explorar, pero no muestra toda la tabla original.</a:t>
            </a:r>
          </a:p>
        </p:txBody>
      </p:sp>
    </p:spTree>
    <p:extLst>
      <p:ext uri="{BB962C8B-B14F-4D97-AF65-F5344CB8AC3E}">
        <p14:creationId xmlns:p14="http://schemas.microsoft.com/office/powerpoint/2010/main" val="75243667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Concepto: K-Means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84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Qué hace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3848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K-Means agrupa muestras según cercanía numérica.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19250"/>
            <a:ext cx="3848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Aquí no ve nombres como BRCA o LUAD; sólo recibe coordenadas PCA de cada muestra.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3848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k indica cuántos grupos se le pide formar. En el resultado final se usó k = 5.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3848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6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La salida es un número de cluster para cada muestra: 0, 1, 2, 3 o 4.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819150"/>
            <a:ext cx="411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Cómo trabaja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23950"/>
            <a:ext cx="411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1. Coloca centros iniciales llamados centroides.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24000"/>
            <a:ext cx="411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2. Asigna cada muestra al centro más cercano.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4114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3. Recalcula los centros con las muestras asignadas.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4114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4. Repite hasta que los grupos cambien poco.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4114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 b="1">
                <a:solidFill>
                  <a:srgbClr val="7D4E57"/>
                </a:solidFill>
                <a:latin typeface="Arial"/>
                <a:ea typeface="Arial"/>
                <a:cs typeface="Arial"/>
              </a:defRPr>
            </a:pPr>
            <a:r>
              <a:t>Después se compara cada cluster contra las etiquetas reales para ver si coincide con tipos tumorales.</a:t>
            </a:r>
          </a:p>
        </p:txBody>
      </p:sp>
    </p:spTree>
    <p:extLst>
      <p:ext uri="{BB962C8B-B14F-4D97-AF65-F5344CB8AC3E}">
        <p14:creationId xmlns:p14="http://schemas.microsoft.com/office/powerpoint/2010/main" val="2661160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Código: K-Means y búsqueda de k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Evaluación de varios k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377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for k in range(2, 11):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model = KMeans(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4782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  n_clusters=k,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  random_state=42,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977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  n_init=20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)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labels = model.fit_predict(matrix)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db = davies_bouldin_score(matrix, labels)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36957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0">
                <a:solidFill>
                  <a:srgbClr val="13262D"/>
                </a:solidFill>
                <a:latin typeface="Menlo, Consolas, monospace"/>
                <a:ea typeface="Menlo, Consolas, monospace"/>
                <a:cs typeface="Menlo, Consolas, monospace"/>
              </a:defRPr>
            </a:pPr>
            <a:r>
              <a:t>  sil = silhouette_score(matrix, labels)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91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Decisión implementada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143000"/>
            <a:ext cx="3962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El código guarda una fila por cada k evaluado: k, Davies-Bouldin y Silhouette.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52600"/>
            <a:ext cx="3962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El k final se toma del menor Davies-Bouldin en el rango evaluado.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3962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Con ese k se conserva el modelo ajustado y la etiqueta de cluster de cada muestra.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7180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2-10</a:t>
            </a:r>
          </a:p>
        </p:txBody>
      </p:sp>
      <p:sp>
        <p:nvSpPr>
          <p:cNvPr id="2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67075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rango evaluado</a:t>
            </a:r>
          </a:p>
        </p:txBody>
      </p:sp>
      <p:sp>
        <p:nvSpPr>
          <p:cNvPr id="2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146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2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7180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sp>
        <p:nvSpPr>
          <p:cNvPr id="2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67075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n_init</a:t>
            </a:r>
          </a:p>
        </p:txBody>
      </p:sp>
      <p:sp>
        <p:nvSpPr>
          <p:cNvPr id="2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14650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2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71800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42</a:t>
            </a:r>
          </a:p>
        </p:txBody>
      </p:sp>
      <p:sp>
        <p:nvSpPr>
          <p:cNvPr id="2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67075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semilla</a:t>
            </a:r>
          </a:p>
        </p:txBody>
      </p:sp>
    </p:spTree>
    <p:extLst>
      <p:ext uri="{BB962C8B-B14F-4D97-AF65-F5344CB8AC3E}">
        <p14:creationId xmlns:p14="http://schemas.microsoft.com/office/powerpoint/2010/main" val="39545601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K-Means: agrupamiento obtenido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Entrada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K-Means recibió las coordenadas PCA de cada muestra.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Proceso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Ubica centroides, asigna puntos cercanos y actualiza centros hasta estabilizar.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4E57"/>
          </a:solidFill>
          <a:ln xmlns:a="http://schemas.openxmlformats.org/drawingml/2006/main" w="0">
            <a:solidFill>
              <a:srgbClr val="7D4E57"/>
            </a:solidFill>
            <a:prstDash val="solid"/>
          </a:ln>
        </p:spPr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Salida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Devuelve números de cluster: 0, 1, 2, 3 y 4. Esos números no tienen significado biológico propio.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b58df5de94344"/>
          <a:stretch xmlns:a="http://schemas.openxmlformats.org/drawingml/2006/main"/>
        </p:blipFill>
        <p:spPr>
          <a:xfrm xmlns:a="http://schemas.openxmlformats.org/drawingml/2006/main">
            <a:off x="1404351" y="2724150"/>
            <a:ext cx="2125247" cy="1657350"/>
          </a:xfrm>
          <a:prstGeom xmlns:a="http://schemas.openxmlformats.org/drawingml/2006/main" prst="rect">
            <a:avLst/>
          </a:prstGeom>
        </p:spPr>
      </p:pic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29125"/>
            <a:ext cx="4095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Clusters asignados en el plano PCA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Criterio de agrupamiento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3943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Cada punto es una muestra. Si dos puntos están cerca, sus perfiles de expresión son parecidos en la representación PCA.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95700"/>
            <a:ext cx="3943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El algoritmo recibe coordenadas numéricas y asigna cada muestra al centroide más cercano.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394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4E57"/>
                </a:solidFill>
                <a:latin typeface="Arial"/>
                <a:ea typeface="Arial"/>
                <a:cs typeface="Arial"/>
              </a:defRPr>
            </a:pPr>
            <a:r>
              <a:t>La relación con el tipo tumoral se evalúa al final.</a:t>
            </a:r>
          </a:p>
        </p:txBody>
      </p:sp>
    </p:spTree>
    <p:extLst>
      <p:ext uri="{BB962C8B-B14F-4D97-AF65-F5344CB8AC3E}">
        <p14:creationId xmlns:p14="http://schemas.microsoft.com/office/powerpoint/2010/main" val="85677239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Criterios internos de clustering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4E57"/>
          </a:solidFill>
          <a:ln xmlns:a="http://schemas.openxmlformats.org/drawingml/2006/main" w="0">
            <a:solidFill>
              <a:srgbClr val="7D4E57"/>
            </a:solidFill>
            <a:prstDash val="solid"/>
          </a:ln>
        </p:spPr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Davies-Bouldin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Compara compactación interna y separación entre clusters. Valores menores indican grupos más definidos.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Silhouette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Compara la cercanía de una muestra a su cluster contra la cercanía al cluster vecino. Valores mayores son mejores.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Lectura conjunta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Ambas métricas evalúan geometría del agrupamiento; no usan el tipo tumoral real.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00300"/>
            <a:ext cx="384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Qué mide Davies-Bouldin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05100"/>
            <a:ext cx="3848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Un cluster compacto tiene puntos cercanos a su centroide.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3848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Dos clusters separados tienen centroides lejanos entre sí.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81400"/>
            <a:ext cx="3848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El índice penaliza clusters dispersos o demasiado cercanos.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384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Qué mide Silhouette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05100"/>
            <a:ext cx="3848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Cerca de 1: la muestra encaja claramente en su cluster.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3848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Cerca de 0: la muestra queda en una frontera entre clusters.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3848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Menor que 0: la muestra probablemente quedó en otro grupo.</a:t>
            </a:r>
          </a:p>
        </p:txBody>
      </p:sp>
    </p:spTree>
    <p:extLst>
      <p:ext uri="{BB962C8B-B14F-4D97-AF65-F5344CB8AC3E}">
        <p14:creationId xmlns:p14="http://schemas.microsoft.com/office/powerpoint/2010/main" val="26221986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Selección de k y calidad interna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ceefffc494f1d"/>
          <a:stretch xmlns:a="http://schemas.openxmlformats.org/drawingml/2006/main"/>
        </p:blipFill>
        <p:spPr>
          <a:xfrm xmlns:a="http://schemas.openxmlformats.org/drawingml/2006/main">
            <a:off x="774321" y="819150"/>
            <a:ext cx="4052058" cy="2571750"/>
          </a:xfrm>
          <a:prstGeom xmlns:a="http://schemas.openxmlformats.org/drawingml/2006/main" prst="rect">
            <a:avLst/>
          </a:prstGeom>
        </p:spPr>
      </p:pic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38525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Davies-Bouldin y Silhouette por k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819150"/>
            <a:ext cx="3219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Resultado en el rango evaluado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143000"/>
            <a:ext cx="3219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Se probaron valores de k entre 2 y 10.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0020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k=5 produjo el menor Davies-Bouldin: 0.931.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14550"/>
            <a:ext cx="3219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Silhouette fue 0.456 en k=5 y 0.465 en su máximo del rango.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43200"/>
            <a:ext cx="321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La decisión conserva k=5 porque combina calidad interna y correspondencia posterior con tipos tumorales.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4E57"/>
          </a:solidFill>
          <a:ln xmlns:a="http://schemas.openxmlformats.org/drawingml/2006/main" w="0">
            <a:solidFill>
              <a:srgbClr val="7D4E57"/>
            </a:solidFill>
            <a:prstDash val="solid"/>
          </a:ln>
        </p:spPr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6240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0.931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57675"/>
            <a:ext cx="163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Davies-Bouldin en k=5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0525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6240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0.456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57675"/>
            <a:ext cx="163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Silhouette en k=5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1638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6240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0.465</a:t>
            </a:r>
          </a:p>
        </p:txBody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57675"/>
            <a:ext cx="163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mejor Silhouette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2362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El resultado muestra una estructura interna moderada y una partición final compatible con cinco grupos.</a:t>
            </a:r>
          </a:p>
        </p:txBody>
      </p:sp>
    </p:spTree>
    <p:extLst>
      <p:ext uri="{BB962C8B-B14F-4D97-AF65-F5344CB8AC3E}">
        <p14:creationId xmlns:p14="http://schemas.microsoft.com/office/powerpoint/2010/main" val="87600795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Criterios externos de comparación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Pureza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Mide si cada cluster está dominado por una clase real. Valores altos indican clusters con una clase predominante.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ARI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Compara la partición de K-Means contra las etiquetas reales y corrige parte del acuerdo esperado por azar.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95350"/>
            <a:ext cx="2419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90600"/>
            <a:ext cx="2419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NMI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76350"/>
            <a:ext cx="2419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Mide cuánta información comparten clusters y tipos tumorales. Valores altos indican alta correspondencia.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003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Diferencia con las métricas internas</a:t>
            </a:r>
          </a:p>
        </p:txBody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14625"/>
            <a:ext cx="3943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2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Davies-Bouldin y Silhouette evalúan sólo la forma geométrica de los clusters.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3943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2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Pureza, ARI y NMI comparan los clusters contra los tipos tumorales reales.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00475"/>
            <a:ext cx="394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Por eso se calculan después de ejecutar K-Means.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Valores observados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7177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28925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0.991</a:t>
            </a:r>
          </a:p>
        </p:txBody>
      </p:sp>
      <p:sp>
        <p:nvSpPr>
          <p:cNvPr id="2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242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pureza</a:t>
            </a:r>
          </a:p>
        </p:txBody>
      </p:sp>
      <p:sp>
        <p:nvSpPr>
          <p:cNvPr id="2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7177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2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28925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0.983</a:t>
            </a:r>
          </a:p>
        </p:txBody>
      </p:sp>
      <p:sp>
        <p:nvSpPr>
          <p:cNvPr id="2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ARI</a:t>
            </a:r>
          </a:p>
        </p:txBody>
      </p:sp>
      <p:sp>
        <p:nvSpPr>
          <p:cNvPr id="2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7177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2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28925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0.972</a:t>
            </a:r>
          </a:p>
        </p:txBody>
      </p:sp>
      <p:sp>
        <p:nvSpPr>
          <p:cNvPr id="2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242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NMI</a:t>
            </a:r>
          </a:p>
        </p:txBody>
      </p:sp>
      <p:sp>
        <p:nvSpPr>
          <p:cNvPr id="2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400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Los tres valores son cercanos a 1, lo que indica alta correspondencia entre clusters y tipos tumorales.</a:t>
            </a:r>
          </a:p>
        </p:txBody>
      </p:sp>
    </p:spTree>
    <p:extLst>
      <p:ext uri="{BB962C8B-B14F-4D97-AF65-F5344CB8AC3E}">
        <p14:creationId xmlns:p14="http://schemas.microsoft.com/office/powerpoint/2010/main" val="172134751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Comparación contra tipos reales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beb3b1d604ec6"/>
          <a:stretch xmlns:a="http://schemas.openxmlformats.org/drawingml/2006/main"/>
        </p:blipFill>
        <p:spPr>
          <a:xfrm xmlns:a="http://schemas.openxmlformats.org/drawingml/2006/main">
            <a:off x="965344" y="819150"/>
            <a:ext cx="3079461" cy="2609850"/>
          </a:xfrm>
          <a:prstGeom xmlns:a="http://schemas.openxmlformats.org/drawingml/2006/main" prst="rect">
            <a:avLst/>
          </a:prstGeom>
        </p:spPr>
      </p:pic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76625"/>
            <a:ext cx="4171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Tipo tumoral real contra cluster asignado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819150"/>
            <a:ext cx="388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Evaluación externa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17157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28725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0.991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240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pureza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17157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228725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0.983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5240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ARI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71575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28725"/>
            <a:ext cx="1028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0.972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240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2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NMI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24050"/>
            <a:ext cx="3886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3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BRCA, PRAD y KIRC se recuperan con alta claridad. La mezcla principal aparece entre COAD y LUAD.</a:t>
            </a:r>
          </a:p>
        </p:txBody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24125"/>
            <a:ext cx="3886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Las etiquetas reales se incorporan en esta etapa de evaluación posterior.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3886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D4E57"/>
                </a:solidFill>
                <a:latin typeface="Arial"/>
                <a:ea typeface="Arial"/>
                <a:cs typeface="Arial"/>
              </a:defRPr>
            </a:pPr>
            <a:r>
              <a:t>El agrupamiento previo se hizo sólo con coordenadas numéricas.</a:t>
            </a:r>
          </a:p>
        </p:txBody>
      </p:sp>
    </p:spTree>
    <p:extLst>
      <p:ext uri="{BB962C8B-B14F-4D97-AF65-F5344CB8AC3E}">
        <p14:creationId xmlns:p14="http://schemas.microsoft.com/office/powerpoint/2010/main" val="158338946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Conclusión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1. Hay señal transcriptómica.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381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Los perfiles RNA-Seq contienen diferencias suficientes para separar muestras por tipo tumoral.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9144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500"/>
          </a:solidFill>
          <a:ln xmlns:a="http://schemas.openxmlformats.org/drawingml/2006/main" w="0">
            <a:solidFill>
              <a:srgbClr val="B98500"/>
            </a:solidFill>
            <a:prstDash val="solid"/>
          </a:ln>
        </p:spPr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02870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2. PCA mostró estructura.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04950"/>
            <a:ext cx="2381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La proyección PC1-PC2 separa varios tipos tumorales antes de evaluar los clusters contra etiquetas reales.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9144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4E57"/>
          </a:solidFill>
          <a:ln xmlns:a="http://schemas.openxmlformats.org/drawingml/2006/main" w="0">
            <a:solidFill>
              <a:srgbClr val="7D4E57"/>
            </a:solidFill>
            <a:prstDash val="solid"/>
          </a:ln>
        </p:spPr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028700"/>
            <a:ext cx="238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3. K-Means recuperó grupos consistentes.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2381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Los clusters coinciden ampliamente con las clases reales: pureza 0.991, ARI 0.983 y NMI 0.972.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375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D3B"/>
          </a:solidFill>
          <a:ln xmlns:a="http://schemas.openxmlformats.org/drawingml/2006/main" w="0">
            <a:solidFill>
              <a:srgbClr val="607D3B"/>
            </a:solidFill>
            <a:prstDash val="solid"/>
          </a:ln>
        </p:spPr>
      </p:sp>
      <p:sp>
        <p:nvSpPr>
          <p:cNvPr id="1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3752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4. COAD y LUAD fueron los casos menos separados.</a:t>
            </a:r>
          </a:p>
        </p:txBody>
      </p:sp>
      <p:sp>
        <p:nvSpPr>
          <p:cNvPr id="1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3752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En la tabla de contingencia son los tipos tumorales con mayor cercanía entre clusters. En cambio, BRCA, PRAD y KIRC quedan asociados a grupos más definidos.</a:t>
            </a:r>
          </a:p>
        </p:txBody>
      </p:sp>
      <p:sp>
        <p:nvSpPr>
          <p:cNvPr id="1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95550"/>
            <a:ext cx="3752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3752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5. La reducción de dimensión permitió comparar las muestras.</a:t>
            </a:r>
          </a:p>
        </p:txBody>
      </p:sp>
      <p:sp>
        <p:nvSpPr>
          <p:cNvPr id="1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37528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El flujo transformó 20,531 genes por muestra en componentes PCA y clusters. Con eso fue posible medir qué tanto coincidían los grupos encontrados con los tipos tumorales reales.</a:t>
            </a:r>
          </a:p>
        </p:txBody>
      </p:sp>
    </p:spTree>
    <p:extLst>
      <p:ext uri="{BB962C8B-B14F-4D97-AF65-F5344CB8AC3E}">
        <p14:creationId xmlns:p14="http://schemas.microsoft.com/office/powerpoint/2010/main" val="52811681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Referencias</a:t>
            </a:r>
          </a:p>
        </p:txBody>
      </p:sp>
      <p:sp>
        <p:nvSpPr>
          <p:cNvPr id="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50">
                <a:solidFill>
                  <a:srgbClr val="52616A"/>
                </a:solidFill>
                <a:latin typeface="Arial"/>
                <a:ea typeface="Arial"/>
                <a:cs typeface="Arial"/>
              </a:defRPr>
            </a:pPr>
            <a:r>
              <a:t>Genómica Computacional</a:t>
            </a:r>
          </a:p>
        </p:txBody>
      </p:sp>
      <p:sp>
        <p:nvSpPr>
          <p:cNvPr id="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830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2"/>
          </a:solidFill>
          <a:ln xmlns:a="http://schemas.openxmlformats.org/drawingml/2006/main" w="0">
            <a:solidFill>
              <a:srgbClr val="D5DEE2"/>
            </a:solidFill>
            <a:prstDash val="solid"/>
          </a:ln>
        </p:spPr>
      </p:sp>
      <p:sp>
        <p:nvSpPr>
          <p:cNvPr id="4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9150"/>
            <a:ext cx="822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4D56"/>
                </a:solidFill>
                <a:latin typeface="Arial"/>
                <a:ea typeface="Arial"/>
                <a:cs typeface="Arial"/>
              </a:defRPr>
            </a:pPr>
            <a:r>
              <a:t>Bibliografía abreviada</a:t>
            </a:r>
          </a:p>
        </p:txBody>
      </p:sp>
      <p:sp>
        <p:nvSpPr>
          <p:cNvPr id="5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95375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4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Fiorini (2016). Gene Expression Cancer RNA-Seq. UCI Machine Learning Repository. DOI: 10.24432/C5R88H.</a:t>
            </a:r>
          </a:p>
        </p:txBody>
      </p:sp>
      <p:sp>
        <p:nvSpPr>
          <p:cNvPr id="6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4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Wang, Gerstein y Snyder (2009). RNA-Seq: a revolutionary tool for transcriptomics. Nature Reviews Genetics.</a:t>
            </a:r>
          </a:p>
        </p:txBody>
      </p:sp>
      <p:sp>
        <p:nvSpPr>
          <p:cNvPr id="7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24025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4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TCGA Research Network (2013). The Cancer Genome Atlas Pan-Cancer analysis project. Nature Genetics.</a:t>
            </a:r>
          </a:p>
        </p:txBody>
      </p:sp>
      <p:sp>
        <p:nvSpPr>
          <p:cNvPr id="8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4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Jolliffe y Cadima (2016). Principal component analysis: a review and recent developments. Philosophical Transactions A.</a:t>
            </a:r>
          </a:p>
        </p:txBody>
      </p:sp>
      <p:sp>
        <p:nvSpPr>
          <p:cNvPr id="9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52675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4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Lloyd (1982). Least squares quantization in PCM. IEEE Transactions on Information Theory.</a:t>
            </a:r>
          </a:p>
        </p:txBody>
      </p:sp>
      <p:sp>
        <p:nvSpPr>
          <p:cNvPr id="10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4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Davies y Bouldin (1979). A cluster separation measure. IEEE TPAMI.</a:t>
            </a:r>
          </a:p>
        </p:txBody>
      </p:sp>
      <p:sp>
        <p:nvSpPr>
          <p:cNvPr id="11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81325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4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Rousseeuw (1987). Silhouettes: validation of cluster analysis. Journal of Computational and Applied Mathematics.</a:t>
            </a:r>
          </a:p>
        </p:txBody>
      </p:sp>
      <p:sp>
        <p:nvSpPr>
          <p:cNvPr id="12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9565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4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Hubert y Arabie (1985). Comparing partitions. Journal of Classification.</a:t>
            </a:r>
          </a:p>
        </p:txBody>
      </p:sp>
      <p:sp>
        <p:nvSpPr>
          <p:cNvPr id="13" name="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9975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40">
                <a:solidFill>
                  <a:srgbClr val="13262D"/>
                </a:solidFill>
                <a:latin typeface="Arial"/>
                <a:ea typeface="Arial"/>
                <a:cs typeface="Arial"/>
              </a:defRPr>
            </a:pPr>
            <a:r>
              <a:t>Vinh, Epps y Bailey (2010). Information theoretic measures for clusterings comparison. JMLR.</a:t>
            </a:r>
          </a:p>
        </p:txBody>
      </p:sp>
    </p:spTree>
    <p:extLst>
      <p:ext uri="{BB962C8B-B14F-4D97-AF65-F5344CB8AC3E}">
        <p14:creationId xmlns:p14="http://schemas.microsoft.com/office/powerpoint/2010/main" val="1408575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2026-06-12T07:58:13.8280000Z</dcterms:created>
  <dcterms:modified xsi:type="dcterms:W3CDTF">2026-06-12T07:58:13.8280000Z</dcterms:modified>
</coreProperties>
</file>